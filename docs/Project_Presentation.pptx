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0136C-1567-41C2-BAB3-D3E473B3E27B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4C3D6-5EFB-4B47-93E3-3E60381E15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04822EC-0D41-4F72-8B6C-7491D41A54FD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9385-6CE0-480C-94B0-185851F3D888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8966-9934-40E3-8833-2BB05B0D193E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06C4-2B5C-42E9-96FB-F3D2E90BF75B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FD14-930F-4ACE-A672-65A5F7D5866A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4474-F8C9-4E42-BF24-1BD20D0F37B8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C4E8-B7A6-4375-98EA-92C8E2A2962B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AACE7-64DD-4259-B8A8-274AC01ED723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144A-05EE-496F-9DB7-414C7F88BD95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9FD7-B42E-4CB0-B323-3A7908DF0F7A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CF88-78E6-4805-A211-D68D27A9641C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77325-78E7-409C-A100-1B4F46A015E9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754A-63F3-4340-AFCC-F71FC39F0BDA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C489-96DE-4993-B994-5545BB7BDB00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BDA3-9B8D-45A6-A5D9-38580125A8CB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EF0C5C4-2395-4064-A85B-5FA5BADC966C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5C2A209-50BF-43EF-B36F-2BA26D5FEC66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4A00D0A-AE15-4280-958E-6A410D6AFEBA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2" Type="http://schemas.openxmlformats.org/officeDocument/2006/relationships/image" Target="../../word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20" Type="http://schemas.openxmlformats.org/officeDocument/2006/relationships/image" Target="../../word/media/image1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image" Target="../../word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shark.org/do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phone.org/technical-corn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889" y="829734"/>
            <a:ext cx="8825658" cy="1568513"/>
          </a:xfrm>
        </p:spPr>
        <p:txBody>
          <a:bodyPr/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Laurentian University Forensic Network for Reconstructing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VolP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(Voice over IP) Calls using Wireshark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888" y="2760134"/>
            <a:ext cx="8825658" cy="3149600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FORENSICS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CPSC_5207EL_03_2025W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Dr. Williams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Nwadiugwu</a:t>
            </a:r>
            <a:endParaRPr lang="en-US" sz="1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#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Hafiz Muhammad Abdullah Qureshi (0453050)</a:t>
            </a:r>
          </a:p>
          <a:p>
            <a:pPr algn="ctr"/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Liying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(0452502)</a:t>
            </a:r>
            <a:endParaRPr lang="en-US" sz="1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Prabha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basnet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(0470401)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Voice over IP (VoIP) is a technology that allows voice communication and multimedia sessions over Internet Protocol (IP) networks.</a:t>
            </a:r>
          </a:p>
          <a:p>
            <a:pPr algn="just"/>
            <a:r>
              <a:rPr lang="en-US" dirty="0"/>
              <a:t>It converts analog voice signals into digital data packets and transmits them over the internet or other IP-based networks.</a:t>
            </a:r>
          </a:p>
          <a:p>
            <a:pPr algn="just"/>
            <a:r>
              <a:rPr lang="en-US" dirty="0"/>
              <a:t>Examples of VoIP applications: Skype, Zoom, WhatsApp calls, and </a:t>
            </a:r>
            <a:r>
              <a:rPr lang="en-US" dirty="0" err="1"/>
              <a:t>Linphone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518833"/>
            <a:ext cx="10469779" cy="4135967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Linphone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Linphone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open-source VoIP software that enables voice and video calls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IP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protocols like SIP and RTP, making it ideal for testing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VoIP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to establish VoIP calls for forensic analysis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is a widely-used network protocol analyzer for capturing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inspecting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deep inspection of hundreds of protocols, including SIP and RTP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and analyze VoIP packets for call reconstruction.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 descr="SIP Dialog FLow-OverFlow.drawio"/>
          <p:cNvPicPr/>
          <p:nvPr/>
        </p:nvPicPr>
        <p:blipFill>
          <a:blip r:embed="rId2">
            <a:extLst>
              <a:ext uri="{96DAC541-7B7A-43D3-8B79-37D633B846F1}">
                <asvg:svgBlip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="http://schemas.openxmlformats.org/wordprocessingml/2006/main" xmlns:w14="http://schemas.microsoft.com/office/word/2010/wordml" xmlns:w10="urn:schemas-microsoft-com:office:word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wpsCustomData="http://www.wps.cn/officeDocument/2013/wpsCustomData" xmlns:pic="http://schemas.openxmlformats.org/drawingml/2006/picture" xmlns:asvg="http://schemas.microsoft.com/office/drawing/2016/SVG/main" xmlns:lc="http://schemas.openxmlformats.org/drawingml/2006/lockedCanvas" r:embed="rId12"/>
              </a:ext>
            </a:extLst>
          </a:blip>
          <a:stretch>
            <a:fillRect/>
          </a:stretch>
        </p:blipFill>
        <p:spPr>
          <a:xfrm>
            <a:off x="2777065" y="2336800"/>
            <a:ext cx="6493935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9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1"/>
          <p:cNvSpPr txBox="1"/>
          <p:nvPr/>
        </p:nvSpPr>
        <p:spPr bwMode="gray">
          <a:xfrm>
            <a:off x="474135" y="2396067"/>
            <a:ext cx="4165598" cy="3496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endParaRPr lang="en-US" sz="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IP Dialog FLow-Class.drawio"/>
          <p:cNvPicPr/>
          <p:nvPr/>
        </p:nvPicPr>
        <p:blipFill>
          <a:blip r:embed="rId2">
            <a:extLst>
              <a:ext uri="{96DAC541-7B7A-43D3-8B79-37D633B846F1}">
                <asvg:svgBlip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="http://schemas.openxmlformats.org/wordprocessingml/2006/main" xmlns:w14="http://schemas.microsoft.com/office/word/2010/wordml" xmlns:w10="urn:schemas-microsoft-com:office:word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wpsCustomData="http://www.wps.cn/officeDocument/2013/wpsCustomData" xmlns:pic="http://schemas.openxmlformats.org/drawingml/2006/picture" xmlns:asvg="http://schemas.microsoft.com/office/drawing/2016/SVG/main" xmlns:lc="http://schemas.openxmlformats.org/drawingml/2006/lockedCanvas" r:embed="rId20"/>
              </a:ext>
            </a:extLst>
          </a:blip>
          <a:stretch>
            <a:fillRect/>
          </a:stretch>
        </p:blipFill>
        <p:spPr>
          <a:xfrm>
            <a:off x="2599259" y="1981200"/>
            <a:ext cx="7145867" cy="4605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108" y="1845696"/>
            <a:ext cx="4654426" cy="4951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itle 1"/>
          <p:cNvSpPr txBox="1"/>
          <p:nvPr/>
        </p:nvSpPr>
        <p:spPr bwMode="gray">
          <a:xfrm>
            <a:off x="846668" y="2364317"/>
            <a:ext cx="4868332" cy="3827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IP Dialog FLow-DFD.drawio (2)"/>
          <p:cNvPicPr/>
          <p:nvPr/>
        </p:nvPicPr>
        <p:blipFill>
          <a:blip r:embed="rId2">
            <a:extLst>
              <a:ext uri="{96DAC541-7B7A-43D3-8B79-37D633B846F1}">
                <asvg:svgBlip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="http://schemas.openxmlformats.org/wordprocessingml/2006/main" xmlns:w14="http://schemas.microsoft.com/office/word/2010/wordml" xmlns:w10="urn:schemas-microsoft-com:office:word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wpsCustomData="http://www.wps.cn/officeDocument/2013/wpsCustomData" xmlns:pic="http://schemas.openxmlformats.org/drawingml/2006/picture" xmlns:asvg="http://schemas.microsoft.com/office/drawing/2016/SVG/main" xmlns:lc="http://schemas.openxmlformats.org/drawingml/2006/lockedCanvas" r:embed="rId18"/>
              </a:ext>
            </a:extLst>
          </a:blip>
          <a:stretch>
            <a:fillRect/>
          </a:stretch>
        </p:blipFill>
        <p:spPr>
          <a:xfrm>
            <a:off x="3488265" y="2201332"/>
            <a:ext cx="4639736" cy="4512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Results/Drawbacks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590748"/>
              </p:ext>
            </p:extLst>
          </p:nvPr>
        </p:nvGraphicFramePr>
        <p:xfrm>
          <a:off x="1248088" y="2429933"/>
          <a:ext cx="4381500" cy="3412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5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5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Call Reconstruction: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Successfully reconstructed parts of VoIP calls using RTP stream analysis in Wireshark.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44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Anomaly Detection: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Detected network anomalies such as jitter, packet loss, and inserted silence.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14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Forensic Workflow: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Created a repeatable and structured forensic analysis workflow for VoIP calls.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/>
          <p:nvPr>
            <p:extLst>
              <p:ext uri="{D42A27DB-BD31-4B8C-83A1-F6EECF244321}">
                <p14:modId xmlns:p14="http://schemas.microsoft.com/office/powerpoint/2010/main" val="59297816"/>
              </p:ext>
            </p:extLst>
          </p:nvPr>
        </p:nvGraphicFramePr>
        <p:xfrm>
          <a:off x="6285754" y="2429933"/>
          <a:ext cx="4381500" cy="3412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1746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Incomplete Audio: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Most RTP streams had missing or silent audio due to incomplete SIP or RTP capture.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953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Capture Dependency: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Accurate analysis depended heavily on capturing the full call setup and teardown.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2078">
                <a:tc>
                  <a:txBody>
                    <a:bodyPr/>
                    <a:lstStyle/>
                    <a:p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Codec Limitations: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Wireshark’s limited support for certain codecs (e.g., Opus, G.729) reduced compatibility with modern VoIP systems.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696632"/>
            <a:ext cx="8825659" cy="426296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User Guide: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https://www.wireshark.org/docs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Linphone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www.linphone.org/technical-corner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Narasimha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Shashidhar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(2015). Forensic Analysis of VoIP Communications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Wireshark.In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Forensics and Cyber Crime (Springer, pp. 65–78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Barbeau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Kranakis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Kienzle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(2006). Detection of VoIP Calls Traversing NAT with the Use of Signatures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396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Ion Boardroom</vt:lpstr>
      <vt:lpstr>Design a Laurentian University Forensic Network for Reconstructing VolP (Voice over IP) Calls using Wireshark</vt:lpstr>
      <vt:lpstr>Introduction</vt:lpstr>
      <vt:lpstr>Tools and Software Used</vt:lpstr>
      <vt:lpstr>Project Overflow</vt:lpstr>
      <vt:lpstr>Class Diagram</vt:lpstr>
      <vt:lpstr>Entity Relationship Diagram</vt:lpstr>
      <vt:lpstr>Dataflow Diagram</vt:lpstr>
      <vt:lpstr>Results/Drawbacks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Automation of a Water-Tank Level Controller for Laurentian University’s Fraser Building Using Tinkercad</dc:title>
  <dc:creator>Abdullah Qureshi</dc:creator>
  <cp:lastModifiedBy>Abdullah Qureshi</cp:lastModifiedBy>
  <cp:revision>28</cp:revision>
  <dcterms:created xsi:type="dcterms:W3CDTF">2025-03-23T06:37:00Z</dcterms:created>
  <dcterms:modified xsi:type="dcterms:W3CDTF">2025-06-30T02:31:06Z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D552C374B5284245814FCEF7F04DA3A5_12</vt:lpwstr>
  </property>
  <property fmtid="{D5CDD505-2E9C-101B-9397-08002B2CF9AE}" pid="3" name="KSOProductBuildVer">
    <vt:lpwstr>1033-12.2.0.20326</vt:lpwstr>
  </property>
</Properties>
</file>